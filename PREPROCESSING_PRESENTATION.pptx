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Challenge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Issues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Heart Diagnoses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4,864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72% missing gender/age, disguised NaNs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Laboratory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978,503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Placeholder values, mixed units, QC failures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Microbiology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15,587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Hierarchical missingness, negative cultures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Procedures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14,497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Clean! (our lucky dataset)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 What We Started With</a:t>
            </a:r>
          </a:p>
          <a:p>
            <a:pPr>
              <a:defRPr sz="1400"/>
            </a:pPr>
            <a:r>
              <a:t>Goal: Transform messy clinical data into meaningful features for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Our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 Data Recovery Over Deletion</a:t>
            </a:r>
          </a:p>
          <a:p>
            <a:pPr>
              <a:defRPr sz="1400"/>
            </a:pPr>
            <a:r>
              <a:t>&gt; "Every missing value tells a story. Before deleting, ask: Can we recover it?"</a:t>
            </a:r>
          </a:p>
          <a:p>
            <a:pPr>
              <a:defRPr sz="1400"/>
            </a:pPr>
            <a:r>
              <a:t>### Key Principles:</a:t>
            </a:r>
          </a:p>
          <a:p>
            <a:pPr>
              <a:defRPr sz="1400"/>
            </a:pPr>
            <a:r>
              <a:t>Recover values from complex strings</a:t>
            </a:r>
          </a:p>
          <a:p>
            <a:pPr>
              <a:defRPr sz="1400"/>
            </a:pPr>
            <a:r>
              <a:t>Use clinical context for imputation</a:t>
            </a:r>
          </a:p>
          <a:p>
            <a:pPr>
              <a:defRPr sz="1400"/>
            </a:pPr>
            <a:r>
              <a:t>Filter by quality, not by convenience</a:t>
            </a:r>
          </a:p>
          <a:p>
            <a:pPr>
              <a:defRPr sz="1400"/>
            </a:pPr>
            <a:r>
              <a:t>Document every decision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Heart Diagnoses - The Detective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 The Problem</a:t>
            </a:r>
          </a:p>
          <a:p>
            <a:pPr>
              <a:defRPr sz="1400"/>
            </a:pPr>
            <a:r>
              <a:t>72% of gender values missing</a:t>
            </a:r>
          </a:p>
          <a:p>
            <a:pPr>
              <a:defRPr sz="1400"/>
            </a:pPr>
            <a:r>
              <a:t>72% of age values missing</a:t>
            </a:r>
          </a:p>
          <a:p>
            <a:pPr>
              <a:defRPr sz="1400"/>
            </a:pPr>
            <a:r>
              <a:t>Clinical notes contain the answers!</a:t>
            </a:r>
          </a:p>
          <a:p>
            <a:pPr>
              <a:defRPr sz="1400"/>
            </a:pPr>
            <a:r>
              <a:t>## The Insight</a:t>
            </a:r>
          </a:p>
          <a:p>
            <a:pPr>
              <a:defRPr sz="1400"/>
            </a:pPr>
            <a:r>
              <a:t>&gt; Medical records use gendered language: "she presented with...", "Mr. ___ is a 67 year-old man..."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Gender Imputation Strategy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Rows Filled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Keywords: "female", "male", "woman", "man"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2,383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Clinical terms: "pregnant", "prostate"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Pronouns: she/her vs he/his (majority vote)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837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Manual review of remaining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4-Stage Text Mining Approach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Result: 99.8% of missing gender recovered!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Age Imputation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6400"/>
                </a:solidFill>
                <a:latin typeface="Courier New"/>
              </a:defRPr>
            </a:pPr>
            <a:r>
              <a:t>Step 1: Group by (ICD Code + Gender)</a:t>
            </a:r>
          </a:p>
          <a:p>
            <a:r>
              <a:t>        -&gt; Use median if N &gt;= 100 samples</a:t>
            </a:r>
          </a:p>
          <a:p>
            <a:r>
              <a:t>        -&gt; Filled 2,062 rows</a:t>
            </a:r>
          </a:p>
          <a:p/>
          <a:p>
            <a:r>
              <a:t>Step 2: Group by (ICD Code only)</a:t>
            </a:r>
          </a:p>
          <a:p>
            <a:r>
              <a:t>        -&gt; Fallback for smaller groups</a:t>
            </a:r>
          </a:p>
          <a:p>
            <a:r>
              <a:t>        -&gt; Filled 795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 Sequential Group Median Approach</a:t>
            </a:r>
          </a:p>
          <a:p>
            <a:pPr>
              <a:defRPr sz="1400"/>
            </a:pPr>
            <a:r>
              <a:t>### Result: 81.6% of missing ages imputed</a:t>
            </a:r>
          </a:p>
          <a:p>
            <a:pPr>
              <a:defRPr sz="1400"/>
            </a:pPr>
            <a:r>
              <a:t>Why N=100? Balance between coverage and statistical reliability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Heart Features Created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Mortality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`is_dead` from date of death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`n_imaging_tests`, `imaging_variety`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Cardiac Phenotype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`has_hf`, `has_ami`, `has_arr`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`doc_complexity_index` (log text length)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From Text to Numbers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ICD Categories: acute_mi, heart_failure, arrhythmia, valvular...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Laboratory Data - Value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6400"/>
                </a:solidFill>
                <a:latin typeface="Courier New"/>
              </a:defRPr>
            </a:pPr>
            <a:r>
              <a:t>value column examples:</a:t>
            </a:r>
          </a:p>
          <a:p>
            <a:r>
              <a:t>  "___"        -&gt; Placeholder (convert to NaN)</a:t>
            </a:r>
          </a:p>
          <a:p>
            <a:r>
              <a:t>  "20/10"      -&gt; Division (calculate: 2.0)</a:t>
            </a:r>
          </a:p>
          <a:p>
            <a:r>
              <a:t>  "80-160"     -&gt; Range (take midpoint: 120)</a:t>
            </a:r>
          </a:p>
          <a:p>
            <a:r>
              <a:t>  "&gt;1.05"      -&gt; Comparison (offset: 1.15)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The Problem with Raw Values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Result: Recovered 1,311 additional numeric values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Laboratory Quality Control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QC 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Rows Affected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QC_FAIL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Set to 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18,185 (1.86%)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QC_WARN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Keep but 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78,124 (8%)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QC_OK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Use as-is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882,194 (90%)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 Trust the QC Flags</a:t>
            </a:r>
          </a:p>
          <a:p>
            <a:pPr>
              <a:defRPr sz="1400"/>
            </a:pPr>
            <a:r>
              <a:t>Rationale: Failed quality control = unreliable measurement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Unit Normalization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Analyte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From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Glucose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mg/dL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mmol/L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0.0555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Creatinine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mg/dL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umol/L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88.4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Hemoglobin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g/dL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pCO2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mm Hg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0.133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Making Apples Equal Apples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642,381 measurements standardized across 34 analytes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Laboratory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 Aggregated Per Admission</a:t>
            </a:r>
          </a:p>
          <a:p>
            <a:pPr>
              <a:defRPr sz="1400"/>
            </a:pPr>
            <a:r>
              <a:t>Activity Metrics</a:t>
            </a:r>
          </a:p>
          <a:p>
            <a:pPr>
              <a:defRPr sz="1400"/>
            </a:pPr>
            <a:r>
              <a:t>num_labs, lab_time_span_hours, unique_lab_tests</a:t>
            </a:r>
          </a:p>
          <a:p>
            <a:pPr>
              <a:defRPr sz="1400"/>
            </a:pPr>
            <a:r>
              <a:t>Quality Indicators</a:t>
            </a:r>
          </a:p>
          <a:p>
            <a:pPr>
              <a:defRPr sz="1400"/>
            </a:pPr>
            <a:r>
              <a:t>abnormal_ratio, qc_fail_ratio</a:t>
            </a:r>
          </a:p>
          <a:p>
            <a:pPr>
              <a:defRPr sz="1400"/>
            </a:pPr>
            <a:r>
              <a:t>Clinical Values by Fluid</a:t>
            </a:r>
          </a:p>
          <a:p>
            <a:pPr>
              <a:defRPr sz="1400"/>
            </a:pPr>
            <a:r>
              <a:t>Blood: glucose, lactate, creatinine, hemoglobin</a:t>
            </a:r>
          </a:p>
          <a:p>
            <a:pPr>
              <a:defRPr sz="1400"/>
            </a:pPr>
            <a:r>
              <a:t>Urine: glucose, creatinine, sodium, protein</a:t>
            </a:r>
          </a:p>
          <a:p>
            <a:pPr>
              <a:defRPr sz="1400"/>
            </a:pPr>
            <a:r>
              <a:t>Blood Gas: pO2, pCO2, pH, base excess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Microbiology - Understanding Missingness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2286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All three missing (org, ab, dilution): 10,195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+----------------------------------------+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+----------------------------------------+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Complete rows: 4,458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6400"/>
                </a:solidFill>
                <a:latin typeface="Courier New"/>
              </a:defRPr>
            </a:pPr>
            <a:r>
              <a:t>+--------------------------------------------------+</a:t>
            </a:r>
          </a:p>
          <a:p>
            <a:r>
              <a:t>+--------------------------------------------------+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 Not All Missing Values Are Equal</a:t>
            </a:r>
          </a:p>
          <a:p>
            <a:pPr>
              <a:defRPr sz="1400"/>
            </a:pPr>
            <a:r>
              <a:t>Key Insight: Missing organism = NEGATIVE culture (clinically meaningful!)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Microbiology Features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Diversity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`unique_organisms`, `unique_antibiotics`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Susceptibility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`num_resistant`, `resistant_ratio`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`total_microbio_events`, `micro_time_span_hours`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 Capturing Infection Patterns</a:t>
            </a:r>
          </a:p>
          <a:p>
            <a:pPr>
              <a:defRPr sz="1400"/>
            </a:pPr>
            <a:r>
              <a:t>### Antibiotic Interpretation:</a:t>
            </a:r>
          </a:p>
          <a:p>
            <a:pPr>
              <a:defRPr sz="1400"/>
            </a:pPr>
            <a:r>
              <a:t>S = Susceptible (drug works)</a:t>
            </a:r>
          </a:p>
          <a:p>
            <a:pPr>
              <a:defRPr sz="1400"/>
            </a:pPr>
            <a:r>
              <a:t>R = Resistant (drug fails)</a:t>
            </a:r>
          </a:p>
          <a:p>
            <a:pPr>
              <a:defRPr sz="1400"/>
            </a:pPr>
            <a:r>
              <a:t>I = Intermediate (needs higher dose)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Procedures - The Clean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 Sometimes You Get Lucky!</a:t>
            </a:r>
          </a:p>
          <a:p>
            <a:pPr>
              <a:defRPr sz="1400"/>
            </a:pPr>
            <a:r>
              <a:t>No duplicates</a:t>
            </a:r>
          </a:p>
          <a:p>
            <a:pPr>
              <a:defRPr sz="1400"/>
            </a:pPr>
            <a:r>
              <a:t>No missing values</a:t>
            </a:r>
          </a:p>
          <a:p>
            <a:pPr>
              <a:defRPr sz="1400"/>
            </a:pPr>
            <a:r>
              <a:t>Valid ICD codes (3-7 characters)</a:t>
            </a:r>
          </a:p>
          <a:p>
            <a:pPr>
              <a:defRPr sz="1400"/>
            </a:pPr>
            <a:r>
              <a:t>### Features Created:</a:t>
            </a:r>
          </a:p>
          <a:p>
            <a:pPr>
              <a:defRPr sz="1400"/>
            </a:pPr>
            <a:r>
              <a:t>total_procedures</a:t>
            </a:r>
          </a:p>
          <a:p>
            <a:pPr>
              <a:defRPr sz="1400"/>
            </a:pPr>
            <a:r>
              <a:t>unique_icd_codes</a:t>
            </a:r>
          </a:p>
          <a:p>
            <a:pPr>
              <a:defRPr sz="1400"/>
            </a:pPr>
            <a:r>
              <a:t>procedure_span_days</a:t>
            </a:r>
          </a:p>
          <a:p>
            <a:pPr>
              <a:defRPr sz="1400"/>
            </a:pPr>
            <a:r>
              <a:t>Observation: r=0.98 correlation between count and unique codes</a:t>
            </a:r>
          </a:p>
          <a:p>
            <a:pPr>
              <a:defRPr sz="1400"/>
            </a:pPr>
            <a:r>
              <a:t>(Most procedures have unique codes)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Complete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6400"/>
                </a:solidFill>
                <a:latin typeface="Courier New"/>
              </a:defRPr>
            </a:pPr>
            <a:r>
              <a:t>Raw Data                    Cleaned Data              Features</a:t>
            </a:r>
          </a:p>
          <a:p>
            <a:r>
              <a:t>+----------------+          +------------------+      +------------------+</a:t>
            </a:r>
          </a:p>
          <a:p>
            <a:r>
              <a:t>| Heart (4.9K)   |--+       |                  |      |                  |</a:t>
            </a:r>
          </a:p>
          <a:p>
            <a:r>
              <a:t>+----------------+  |       |   Remove Dupes   |      |  Heart: 18 vars  |</a:t>
            </a:r>
          </a:p>
          <a:p>
            <a:r>
              <a:t>| Lab (978K)     |--+------&gt;|   Handle NaNs    |-----&gt;|  Lab: 34 vars    |</a:t>
            </a:r>
          </a:p>
          <a:p>
            <a:r>
              <a:t>+----------------+  |       |   QC Filtering   |      |  Micro: 17 vars  |</a:t>
            </a:r>
          </a:p>
          <a:p>
            <a:r>
              <a:t>| Micro (15.5K)  |--+       |   Unit Normalize |      |  Proc: 6 vars    |</a:t>
            </a:r>
          </a:p>
          <a:p>
            <a:r>
              <a:t>+----------------+  |       |   Parse Dates    |      |                  |</a:t>
            </a:r>
          </a:p>
          <a:p>
            <a:r>
              <a:t>| Proc (14.5K)   |--+       +------------------+      +------------------+</a:t>
            </a:r>
          </a:p>
          <a:p>
            <a:r>
              <a:t>+----------------+                                           |</a:t>
            </a:r>
          </a:p>
          <a:p>
            <a:r>
              <a:t>                                                             v</a:t>
            </a:r>
          </a:p>
          <a:p>
            <a:r>
              <a:t>                                                    ~75 Features Total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Impact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Heart 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28%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99.9% complete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Heart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28%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86% complete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Lab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907K 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908K numeric (+1,311)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Lab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Unknown 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90% QC-verified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 What We Achieved</a:t>
            </a:r>
          </a:p>
          <a:p>
            <a:pPr>
              <a:defRPr sz="1400"/>
            </a:pPr>
            <a:r>
              <a:t>### Data Loss (Intentional):</a:t>
            </a:r>
          </a:p>
          <a:p>
            <a:pPr>
              <a:defRPr sz="1400"/>
            </a:pPr>
            <a:r>
              <a:t>18,185 QC-failed lab measurements (1.86%)</a:t>
            </a:r>
          </a:p>
          <a:p>
            <a:pPr>
              <a:defRPr sz="1400"/>
            </a:pPr>
            <a:r>
              <a:t>255 QC-failed microbiology results (1.64%)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Decisions Recap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04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Text-based gender imputation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Preserves 99.8% vs deleting 72%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ICD+Gender age imputation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Clinically meaningful groupings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QC-based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Quality &gt; quantity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Unit standardization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Cross-patient comparability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Negative culture preservation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Clinically informative absence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Why These Choices Matter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 What This Project Taught Us</a:t>
            </a:r>
          </a:p>
          <a:p>
            <a:pPr>
              <a:defRPr sz="1400"/>
            </a:pPr>
            <a:r>
              <a:t>Missing data has meaning - negative cultures, unavailable tests</a:t>
            </a:r>
          </a:p>
          <a:p>
            <a:pPr>
              <a:defRPr sz="1400"/>
            </a:pPr>
            <a:r>
              <a:t>Clinical text is rich - pronouns, keywords reveal demographics</a:t>
            </a:r>
          </a:p>
          <a:p>
            <a:pPr>
              <a:defRPr sz="1400"/>
            </a:pPr>
            <a:r>
              <a:t>Quality flags exist for a reason - trust the lab QC</a:t>
            </a:r>
          </a:p>
          <a:p>
            <a:pPr>
              <a:defRPr sz="1400"/>
            </a:pPr>
            <a:r>
              <a:t>Domain knowledge matters - ICD codes group similar patients</a:t>
            </a:r>
          </a:p>
          <a:p>
            <a:pPr>
              <a:defRPr sz="1400"/>
            </a:pPr>
            <a:r>
              <a:t>Document everything - reproducibility requires transparency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Final Output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Aggregation Level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Heart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4,864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Per admission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Laboratory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Per admission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Microbiology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Per admission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Procedures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Per admission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Ready for Analysis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All datasets linked by: (subject_id, hadm_id)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 Questions?</a:t>
            </a:r>
          </a:p>
          <a:p>
            <a:pPr>
              <a:defRPr sz="1400"/>
            </a:pPr>
            <a:r>
              <a:t>### Files Available:</a:t>
            </a:r>
          </a:p>
          <a:p>
            <a:pPr>
              <a:defRPr sz="1400"/>
            </a:pPr>
            <a:r>
              <a:t>heart_diagnoses_1_cleaned.csv + _agg_features.csv</a:t>
            </a:r>
          </a:p>
          <a:p>
            <a:pPr>
              <a:defRPr sz="1400"/>
            </a:pPr>
            <a:r>
              <a:t>laboratory_events_codes_2_cleaned.csv + _agg_features.csv</a:t>
            </a:r>
          </a:p>
          <a:p>
            <a:pPr>
              <a:defRPr sz="1400"/>
            </a:pPr>
            <a:r>
              <a:t>microbiology_events_codes_3_cleaned.csv + _agg_features.csv</a:t>
            </a:r>
          </a:p>
          <a:p>
            <a:pPr>
              <a:defRPr sz="1400"/>
            </a:pPr>
            <a:r>
              <a:t>procedure_code_4_cleaned.csv + _agg_features.csv</a:t>
            </a:r>
          </a:p>
          <a:p>
            <a:pPr>
              <a:defRPr sz="1400"/>
            </a:pPr>
            <a:r>
              <a:t>### Documentation:</a:t>
            </a:r>
          </a:p>
          <a:p>
            <a:pPr>
              <a:defRPr sz="1400"/>
            </a:pPr>
            <a:r>
              <a:t>PREPROCESSING_STORY.md - Full methodology</a:t>
            </a:r>
          </a:p>
          <a:p>
            <a:pPr>
              <a:defRPr sz="1400"/>
            </a:pPr>
            <a:r>
              <a:t>Jupyter notebooks - Step-by-step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